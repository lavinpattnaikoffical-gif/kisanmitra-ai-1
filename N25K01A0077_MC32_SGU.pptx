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Open Sans" panose="020B0606030504020204" pitchFamily="3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F5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38" y="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97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8623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KisanMitra AI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33517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Personalized Farm Companion for Modern Agriculture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2953226"/>
            <a:ext cx="2367558" cy="3990023"/>
          </a:xfrm>
          <a:prstGeom prst="roundRect">
            <a:avLst>
              <a:gd name="adj" fmla="val 402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3187660"/>
            <a:ext cx="189869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Team: Kasukabe Coders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386739"/>
            <a:ext cx="18986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NIAT Kolhapur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514624" y="4885730"/>
            <a:ext cx="18986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 ID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N25K01A0077 | Problem Statement: MC-32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8874562" y="2953226"/>
            <a:ext cx="2367558" cy="3990023"/>
          </a:xfrm>
          <a:prstGeom prst="roundRect">
            <a:avLst>
              <a:gd name="adj" fmla="val 402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08996" y="3187660"/>
            <a:ext cx="18986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Team Members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108996" y="4032409"/>
            <a:ext cx="18986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Lavin Pattnaik, Priyansh Dewan, Dhanesh Shetty, Harsh Varsani, Jeevesh Patil.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9108996" y="5983010"/>
            <a:ext cx="18986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B.Tech — AI &amp; Data Science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1468933" y="2953226"/>
            <a:ext cx="2367558" cy="3990023"/>
          </a:xfrm>
          <a:prstGeom prst="roundRect">
            <a:avLst>
              <a:gd name="adj" fmla="val 402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703368" y="3187660"/>
            <a:ext cx="189869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Makers Conclave 2026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1703368" y="4386739"/>
            <a:ext cx="18986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Submission: March 2026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11703368" y="5248632"/>
            <a:ext cx="18986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4A1559-3E67-49FC-2E16-B15EBA1D248D}"/>
              </a:ext>
            </a:extLst>
          </p:cNvPr>
          <p:cNvSpPr/>
          <p:nvPr/>
        </p:nvSpPr>
        <p:spPr>
          <a:xfrm>
            <a:off x="12832702" y="7769290"/>
            <a:ext cx="1691951" cy="36290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30FDDF-20F4-90A6-A4DC-17DAF6F29045}"/>
              </a:ext>
            </a:extLst>
          </p:cNvPr>
          <p:cNvSpPr/>
          <p:nvPr/>
        </p:nvSpPr>
        <p:spPr>
          <a:xfrm>
            <a:off x="0" y="7968343"/>
            <a:ext cx="14630400" cy="261257"/>
          </a:xfrm>
          <a:prstGeom prst="rect">
            <a:avLst/>
          </a:prstGeom>
          <a:solidFill>
            <a:srgbClr val="D6F5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767BAE-B0C8-D6B3-6CEB-79057E401EEA}"/>
              </a:ext>
            </a:extLst>
          </p:cNvPr>
          <p:cNvSpPr txBox="1"/>
          <p:nvPr/>
        </p:nvSpPr>
        <p:spPr>
          <a:xfrm>
            <a:off x="6699379" y="7919210"/>
            <a:ext cx="1339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Team ID: N25K01A0077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8322"/>
            <a:ext cx="10323909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Problem Understanding &amp; Solution Approach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3790" y="1558528"/>
            <a:ext cx="4607123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Challenges in Modern Agriculture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93790" y="1930598"/>
            <a:ext cx="6341626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Farmers face critical barriers that limit productivity and profitability in today's agricultural landscape.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502604" y="1558528"/>
            <a:ext cx="3093244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Our IoT + AI Ecosystem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02604" y="1930598"/>
            <a:ext cx="6341626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KisanMitra delivers real-time monitoring, personalized advisories, and direct market access through an integrated solution.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93790" y="2513648"/>
            <a:ext cx="4283750" cy="1524833"/>
          </a:xfrm>
          <a:prstGeom prst="roundRect">
            <a:avLst>
              <a:gd name="adj" fmla="val 4061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8809" y="2668667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26A688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0372" y="2790230"/>
            <a:ext cx="198953" cy="19895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48809" y="3206591"/>
            <a:ext cx="277260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No Real-Time Farm Data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48809" y="3494365"/>
            <a:ext cx="3973711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Irrigation and fertilizer decisions based on guesswork cause crop loss and resource waste across Indian farms.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173266" y="2513648"/>
            <a:ext cx="4283750" cy="1524833"/>
          </a:xfrm>
          <a:prstGeom prst="roundRect">
            <a:avLst>
              <a:gd name="adj" fmla="val 4061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328285" y="2668667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26A688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49848" y="2790230"/>
            <a:ext cx="198953" cy="19895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28285" y="3206591"/>
            <a:ext cx="284249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Supply Chain Middlemen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5328285" y="3494365"/>
            <a:ext cx="3973711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Farmers earn minimal prices while consumers pay premium rates — no direct market access or fair pricing.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9552742" y="2513648"/>
            <a:ext cx="4283869" cy="1524833"/>
          </a:xfrm>
          <a:prstGeom prst="roundRect">
            <a:avLst>
              <a:gd name="adj" fmla="val 4061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707761" y="2668667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26A688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29324" y="2790230"/>
            <a:ext cx="198953" cy="19895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707761" y="3206591"/>
            <a:ext cx="2828092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Zero Food Transparency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9707761" y="3494365"/>
            <a:ext cx="3973830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Consumers cannot verify growing methods, pesticide use, or origin of their food products.</a:t>
            </a:r>
            <a:endParaRPr lang="en-US" sz="11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790" y="4146232"/>
            <a:ext cx="6521410" cy="58971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1189" y="483167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Sensors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41189" y="5119449"/>
            <a:ext cx="6226612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collects real-time soil, temperature, humidity data</a:t>
            </a:r>
            <a:endParaRPr lang="en-US" sz="115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0" y="4146232"/>
            <a:ext cx="6521410" cy="58971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462599" y="483167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Cloud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7462599" y="5119449"/>
            <a:ext cx="6226612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Firebase stores and syncs farm data instantly and uses local storage for all time service</a:t>
            </a:r>
            <a:endParaRPr lang="en-US" sz="115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3790" y="5461397"/>
            <a:ext cx="6521410" cy="58971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41189" y="6146840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AI Engine</a:t>
            </a:r>
            <a:endParaRPr lang="en-US" sz="1450" dirty="0"/>
          </a:p>
        </p:txBody>
      </p:sp>
      <p:sp>
        <p:nvSpPr>
          <p:cNvPr id="30" name="Text 22"/>
          <p:cNvSpPr/>
          <p:nvPr/>
        </p:nvSpPr>
        <p:spPr>
          <a:xfrm>
            <a:off x="941189" y="6434614"/>
            <a:ext cx="6226612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ML and NLP models analyze data patterns</a:t>
            </a:r>
            <a:endParaRPr lang="en-US" sz="115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15200" y="5461397"/>
            <a:ext cx="6521410" cy="589717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462599" y="6146840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Advisory</a:t>
            </a:r>
            <a:endParaRPr lang="en-US" sz="1450" dirty="0"/>
          </a:p>
        </p:txBody>
      </p:sp>
      <p:sp>
        <p:nvSpPr>
          <p:cNvPr id="33" name="Text 24"/>
          <p:cNvSpPr/>
          <p:nvPr/>
        </p:nvSpPr>
        <p:spPr>
          <a:xfrm>
            <a:off x="7462599" y="6434614"/>
            <a:ext cx="6226612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Supports cross platform like Web, Android, IOS.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793790" y="6884313"/>
            <a:ext cx="13042821" cy="486966"/>
          </a:xfrm>
          <a:prstGeom prst="roundRect">
            <a:avLst>
              <a:gd name="adj" fmla="val 12716"/>
            </a:avLst>
          </a:prstGeom>
          <a:solidFill>
            <a:srgbClr val="C1F1E5"/>
          </a:solidFill>
          <a:ln/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1189" y="7091839"/>
            <a:ext cx="184190" cy="147399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272778" y="7016829"/>
            <a:ext cx="12416433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Success Metric: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System delivers crop, pest, and weather advisories with </a:t>
            </a:r>
            <a:r>
              <a:rPr lang="en-US" sz="1150" b="1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&gt;85% accuracy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response time under 3 seconds, on ₹900 ESP32-based hardware setup.</a:t>
            </a:r>
            <a:endParaRPr lang="en-US" sz="11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EF21A3F-61D0-09B0-C890-832A007B9710}"/>
              </a:ext>
            </a:extLst>
          </p:cNvPr>
          <p:cNvSpPr/>
          <p:nvPr/>
        </p:nvSpPr>
        <p:spPr>
          <a:xfrm>
            <a:off x="12832702" y="7769290"/>
            <a:ext cx="1691951" cy="36290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9E6B709-4A65-3B61-F726-FCCD016F6B60}"/>
              </a:ext>
            </a:extLst>
          </p:cNvPr>
          <p:cNvSpPr/>
          <p:nvPr/>
        </p:nvSpPr>
        <p:spPr>
          <a:xfrm>
            <a:off x="0" y="7968343"/>
            <a:ext cx="14630400" cy="261257"/>
          </a:xfrm>
          <a:prstGeom prst="rect">
            <a:avLst/>
          </a:prstGeom>
          <a:solidFill>
            <a:srgbClr val="D6F5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E149243-E87B-5831-E398-C3AE647279BC}"/>
              </a:ext>
            </a:extLst>
          </p:cNvPr>
          <p:cNvSpPr txBox="1"/>
          <p:nvPr/>
        </p:nvSpPr>
        <p:spPr>
          <a:xfrm>
            <a:off x="6749534" y="7934430"/>
            <a:ext cx="1339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Team ID: N25K01A0077  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8904"/>
            <a:ext cx="8576072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Inventory &amp; Component Feasibility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299448"/>
            <a:ext cx="351567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Hardware Components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793790" y="1763792"/>
            <a:ext cx="13042821" cy="3944303"/>
          </a:xfrm>
          <a:prstGeom prst="roundRect">
            <a:avLst>
              <a:gd name="adj" fmla="val 169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1771412"/>
            <a:ext cx="13027581" cy="3645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60358" y="1845707"/>
            <a:ext cx="358699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Component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872395" y="1845707"/>
            <a:ext cx="4885968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Purpose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83403" y="1845707"/>
            <a:ext cx="162901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Status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037457" y="1845707"/>
            <a:ext cx="163282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 (₹)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1410" y="2135981"/>
            <a:ext cx="13027581" cy="36456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60358" y="2210276"/>
            <a:ext cx="358699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ESP32 Dev Board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72395" y="2210276"/>
            <a:ext cx="4885968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Collects sensor data, sends to cloud via WiFi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083403" y="2210276"/>
            <a:ext cx="162901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purchase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037457" y="2210276"/>
            <a:ext cx="163282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₹450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1410" y="2500551"/>
            <a:ext cx="13027581" cy="3645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60358" y="2574846"/>
            <a:ext cx="358699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Soil Moisture Sensor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72395" y="2574846"/>
            <a:ext cx="4885968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Measures field water levels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083403" y="2574846"/>
            <a:ext cx="162901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purchase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037457" y="2574846"/>
            <a:ext cx="163282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₹120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1410" y="2865120"/>
            <a:ext cx="13027581" cy="36456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60358" y="2939415"/>
            <a:ext cx="358699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DHT22 Temp/Humidity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72395" y="2939415"/>
            <a:ext cx="4885968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Monitors ambient farm conditions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083403" y="2939415"/>
            <a:ext cx="162901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purchase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2037457" y="2939415"/>
            <a:ext cx="163282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₹200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1410" y="3229689"/>
            <a:ext cx="13027581" cy="3645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60358" y="3303984"/>
            <a:ext cx="358699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Jumper Wires + Breadboard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72395" y="3303984"/>
            <a:ext cx="4885968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Prototyping circuit connections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083403" y="3303984"/>
            <a:ext cx="162901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purchase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2037457" y="3303984"/>
            <a:ext cx="163282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₹150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01410" y="3594259"/>
            <a:ext cx="13027581" cy="36456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60358" y="3668554"/>
            <a:ext cx="358699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Supply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872395" y="3668554"/>
            <a:ext cx="4885968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Field power supply for ESP32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083403" y="3668554"/>
            <a:ext cx="162901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purchase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2037457" y="3668554"/>
            <a:ext cx="163282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₹1000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01410" y="3958828"/>
            <a:ext cx="13027581" cy="3645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60358" y="4033123"/>
            <a:ext cx="358699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 sensor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872395" y="4033123"/>
            <a:ext cx="4885968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used to measure the </a:t>
            </a:r>
            <a:r>
              <a:rPr lang="en-US" sz="12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acidity</a:t>
            </a: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 alkalinity of a solution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083403" y="4033123"/>
            <a:ext cx="162901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 purchase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2037457" y="4033123"/>
            <a:ext cx="163282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₹650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01410" y="4323398"/>
            <a:ext cx="13027581" cy="79652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60358" y="4397693"/>
            <a:ext cx="358699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Npk sensor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872395" y="4397693"/>
            <a:ext cx="4885968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 real-time on-site data to help farmers researchers and gardeners monitor soil fertility optimize fertilizer usage and manage crop health without waiting for laboratory results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0083403" y="4397693"/>
            <a:ext cx="162901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purchase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12037457" y="4397693"/>
            <a:ext cx="163282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₹800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801410" y="5119926"/>
            <a:ext cx="13027581" cy="58054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960358" y="5194221"/>
            <a:ext cx="358699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GPS module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4872395" y="5194221"/>
            <a:ext cx="4885968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GPS module is used to determine the </a:t>
            </a:r>
            <a:r>
              <a:rPr lang="en-US" sz="12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location</a:t>
            </a: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a device on Earth using signals from navigation satellites.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10083403" y="5194221"/>
            <a:ext cx="162901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purchase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12037457" y="5194221"/>
            <a:ext cx="163282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₹450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1432084" y="5912406"/>
            <a:ext cx="2978468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4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₹4000</a:t>
            </a:r>
            <a:endParaRPr lang="en-US" sz="4100" dirty="0"/>
          </a:p>
        </p:txBody>
      </p:sp>
      <p:sp>
        <p:nvSpPr>
          <p:cNvPr id="51" name="Text 49"/>
          <p:cNvSpPr/>
          <p:nvPr/>
        </p:nvSpPr>
        <p:spPr>
          <a:xfrm>
            <a:off x="1256705" y="6598920"/>
            <a:ext cx="332922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Total Project Cost(approx.)</a:t>
            </a:r>
            <a:endParaRPr lang="en-US" sz="1550" dirty="0"/>
          </a:p>
        </p:txBody>
      </p:sp>
      <p:sp>
        <p:nvSpPr>
          <p:cNvPr id="52" name="Text 50"/>
          <p:cNvSpPr/>
          <p:nvPr/>
        </p:nvSpPr>
        <p:spPr>
          <a:xfrm>
            <a:off x="793790" y="6913602"/>
            <a:ext cx="425505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Ultra-low cost hardware and software setup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5825966" y="5912406"/>
            <a:ext cx="2978468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4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100%</a:t>
            </a:r>
            <a:endParaRPr lang="en-US" sz="4100" dirty="0"/>
          </a:p>
        </p:txBody>
      </p:sp>
      <p:sp>
        <p:nvSpPr>
          <p:cNvPr id="54" name="Text 52"/>
          <p:cNvSpPr/>
          <p:nvPr/>
        </p:nvSpPr>
        <p:spPr>
          <a:xfrm>
            <a:off x="6114336" y="6598920"/>
            <a:ext cx="2401610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Open-Source Stack</a:t>
            </a:r>
            <a:endParaRPr lang="en-US" sz="1550" dirty="0"/>
          </a:p>
        </p:txBody>
      </p:sp>
      <p:sp>
        <p:nvSpPr>
          <p:cNvPr id="55" name="Text 53"/>
          <p:cNvSpPr/>
          <p:nvPr/>
        </p:nvSpPr>
        <p:spPr>
          <a:xfrm>
            <a:off x="5187672" y="6913602"/>
            <a:ext cx="425505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Zero licensing fees using free tier services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10219849" y="5912406"/>
            <a:ext cx="2978468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4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5</a:t>
            </a:r>
            <a:endParaRPr lang="en-US" sz="4100" dirty="0"/>
          </a:p>
        </p:txBody>
      </p:sp>
      <p:sp>
        <p:nvSpPr>
          <p:cNvPr id="57" name="Text 55"/>
          <p:cNvSpPr/>
          <p:nvPr/>
        </p:nvSpPr>
        <p:spPr>
          <a:xfrm>
            <a:off x="10576798" y="6598920"/>
            <a:ext cx="226456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Core Components</a:t>
            </a:r>
            <a:endParaRPr lang="en-US" sz="1550" dirty="0"/>
          </a:p>
        </p:txBody>
      </p:sp>
      <p:sp>
        <p:nvSpPr>
          <p:cNvPr id="58" name="Text 56"/>
          <p:cNvSpPr/>
          <p:nvPr/>
        </p:nvSpPr>
        <p:spPr>
          <a:xfrm>
            <a:off x="9581555" y="6913602"/>
            <a:ext cx="425505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Integrated sensors, cloud, AI, and mobile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793790" y="7254597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                                                                *Sensor Cost and Requirement can vary according to further upgradation in project</a:t>
            </a:r>
            <a:endParaRPr lang="en-US" sz="125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00531EE-E64B-5086-2200-24AD5F10BA39}"/>
              </a:ext>
            </a:extLst>
          </p:cNvPr>
          <p:cNvSpPr/>
          <p:nvPr/>
        </p:nvSpPr>
        <p:spPr>
          <a:xfrm>
            <a:off x="12832702" y="7769290"/>
            <a:ext cx="1691951" cy="36290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B56BD10-EBC5-F3E3-0146-FD196D3E36B8}"/>
              </a:ext>
            </a:extLst>
          </p:cNvPr>
          <p:cNvSpPr/>
          <p:nvPr/>
        </p:nvSpPr>
        <p:spPr>
          <a:xfrm>
            <a:off x="0" y="7968343"/>
            <a:ext cx="14630400" cy="261257"/>
          </a:xfrm>
          <a:prstGeom prst="rect">
            <a:avLst/>
          </a:prstGeom>
          <a:solidFill>
            <a:srgbClr val="D6F5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BD2EBA9-5D8D-2D44-5FFC-8DAE5EE94AE6}"/>
              </a:ext>
            </a:extLst>
          </p:cNvPr>
          <p:cNvSpPr txBox="1"/>
          <p:nvPr/>
        </p:nvSpPr>
        <p:spPr>
          <a:xfrm>
            <a:off x="6717358" y="7914305"/>
            <a:ext cx="1339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Team ID: N25K01A0077  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1525"/>
            <a:ext cx="6810970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60-Day Timeline &amp; Milestones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93790" y="2942392"/>
            <a:ext cx="13042821" cy="15240"/>
          </a:xfrm>
          <a:prstGeom prst="roundRect">
            <a:avLst>
              <a:gd name="adj" fmla="val 406325"/>
            </a:avLst>
          </a:prstGeom>
          <a:solidFill>
            <a:srgbClr val="BCDBD4"/>
          </a:solidFill>
          <a:ln/>
        </p:spPr>
      </p:sp>
      <p:sp>
        <p:nvSpPr>
          <p:cNvPr id="4" name="Shape 2"/>
          <p:cNvSpPr/>
          <p:nvPr/>
        </p:nvSpPr>
        <p:spPr>
          <a:xfrm>
            <a:off x="3358753" y="2500193"/>
            <a:ext cx="15240" cy="442198"/>
          </a:xfrm>
          <a:prstGeom prst="roundRect">
            <a:avLst>
              <a:gd name="adj" fmla="val 406325"/>
            </a:avLst>
          </a:prstGeom>
          <a:solidFill>
            <a:srgbClr val="BCDBD4"/>
          </a:solidFill>
          <a:ln/>
        </p:spPr>
      </p:sp>
      <p:sp>
        <p:nvSpPr>
          <p:cNvPr id="5" name="Shape 3"/>
          <p:cNvSpPr/>
          <p:nvPr/>
        </p:nvSpPr>
        <p:spPr>
          <a:xfrm>
            <a:off x="3200519" y="2776538"/>
            <a:ext cx="331708" cy="331708"/>
          </a:xfrm>
          <a:prstGeom prst="roundRect">
            <a:avLst>
              <a:gd name="adj" fmla="val 18668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55824" y="2804220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861542" y="1423868"/>
            <a:ext cx="3009662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Phase 1: Setup &amp; Research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41189" y="1711642"/>
            <a:ext cx="485036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Weeks 1–2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41189" y="1963579"/>
            <a:ext cx="4850368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Hardware sourcing · ESP32 setup · Firebase configuration · Kerala crop calendar research · NLP library evaluation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91225" y="2942392"/>
            <a:ext cx="15240" cy="442198"/>
          </a:xfrm>
          <a:prstGeom prst="roundRect">
            <a:avLst>
              <a:gd name="adj" fmla="val 406325"/>
            </a:avLst>
          </a:prstGeom>
          <a:solidFill>
            <a:srgbClr val="BCDBD4"/>
          </a:solidFill>
          <a:ln/>
        </p:spPr>
      </p:sp>
      <p:sp>
        <p:nvSpPr>
          <p:cNvPr id="11" name="Shape 9"/>
          <p:cNvSpPr/>
          <p:nvPr/>
        </p:nvSpPr>
        <p:spPr>
          <a:xfrm>
            <a:off x="5832991" y="2776538"/>
            <a:ext cx="331708" cy="331708"/>
          </a:xfrm>
          <a:prstGeom prst="roundRect">
            <a:avLst>
              <a:gd name="adj" fmla="val 18668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88295" y="2804220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24494" y="3532108"/>
            <a:ext cx="2948702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Phase 2: Build &amp; Integrate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73661" y="3819882"/>
            <a:ext cx="4850487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Weeks 3–4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73661" y="4071818"/>
            <a:ext cx="4850487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Flutter app skeleton · FastAPI backend · Weather API integration · Soil data pipeline live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23697" y="2500193"/>
            <a:ext cx="15240" cy="442198"/>
          </a:xfrm>
          <a:prstGeom prst="roundRect">
            <a:avLst>
              <a:gd name="adj" fmla="val 406325"/>
            </a:avLst>
          </a:prstGeom>
          <a:solidFill>
            <a:srgbClr val="BCDBD4"/>
          </a:solidFill>
          <a:ln/>
        </p:spPr>
      </p:sp>
      <p:sp>
        <p:nvSpPr>
          <p:cNvPr id="17" name="Shape 15"/>
          <p:cNvSpPr/>
          <p:nvPr/>
        </p:nvSpPr>
        <p:spPr>
          <a:xfrm>
            <a:off x="8465463" y="2776538"/>
            <a:ext cx="331708" cy="331708"/>
          </a:xfrm>
          <a:prstGeom prst="roundRect">
            <a:avLst>
              <a:gd name="adj" fmla="val 18668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20767" y="2804220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941939" y="1423868"/>
            <a:ext cx="3378875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Phase 3: AI &amp; Advisory Engine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206133" y="1711642"/>
            <a:ext cx="4850487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Weeks 5–6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06133" y="1963579"/>
            <a:ext cx="4850487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 crop/pest ML models · Integrate NLP for advisory text · Voice advisory module · QR Digital Crop Passport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1256288" y="2942392"/>
            <a:ext cx="15240" cy="442198"/>
          </a:xfrm>
          <a:prstGeom prst="roundRect">
            <a:avLst>
              <a:gd name="adj" fmla="val 406325"/>
            </a:avLst>
          </a:prstGeom>
          <a:solidFill>
            <a:srgbClr val="BCDBD4"/>
          </a:solidFill>
          <a:ln/>
        </p:spPr>
      </p:sp>
      <p:sp>
        <p:nvSpPr>
          <p:cNvPr id="23" name="Shape 21"/>
          <p:cNvSpPr/>
          <p:nvPr/>
        </p:nvSpPr>
        <p:spPr>
          <a:xfrm>
            <a:off x="11098054" y="2776538"/>
            <a:ext cx="331708" cy="331708"/>
          </a:xfrm>
          <a:prstGeom prst="roundRect">
            <a:avLst>
              <a:gd name="adj" fmla="val 18668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3358" y="2804220"/>
            <a:ext cx="221099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566553" y="3532108"/>
            <a:ext cx="3394710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Phase 4: Testing &amp; Demo Prep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838724" y="3819882"/>
            <a:ext cx="4850487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Weeks 7–8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38724" y="4071818"/>
            <a:ext cx="4850487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Field simulation testing · Accuracy benchmarking (&gt;85% target) · UI polish · Demo video · Documentation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93790" y="4568666"/>
            <a:ext cx="6473547" cy="1002149"/>
          </a:xfrm>
          <a:prstGeom prst="roundRect">
            <a:avLst>
              <a:gd name="adj" fmla="val 7300"/>
            </a:avLst>
          </a:prstGeom>
          <a:solidFill>
            <a:srgbClr val="FFFFFF"/>
          </a:solidFill>
          <a:ln w="15240">
            <a:solidFill>
              <a:srgbClr val="BCDB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8550" y="4568666"/>
            <a:ext cx="60960" cy="1002149"/>
          </a:xfrm>
          <a:prstGeom prst="roundRect">
            <a:avLst>
              <a:gd name="adj" fmla="val 101581"/>
            </a:avLst>
          </a:prstGeom>
          <a:solidFill>
            <a:srgbClr val="26A688"/>
          </a:solidFill>
          <a:ln/>
        </p:spPr>
      </p:sp>
      <p:sp>
        <p:nvSpPr>
          <p:cNvPr id="30" name="Text 28"/>
          <p:cNvSpPr/>
          <p:nvPr/>
        </p:nvSpPr>
        <p:spPr>
          <a:xfrm>
            <a:off x="1002149" y="4731306"/>
            <a:ext cx="2505194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Week 1–2: Foundation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002149" y="5019080"/>
            <a:ext cx="6102548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Complete hardware acquisition and establish core infrastructure. Set up ESP32 development environment and configure Firebase for real-time data synchronization.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363063" y="4568666"/>
            <a:ext cx="6473547" cy="1002149"/>
          </a:xfrm>
          <a:prstGeom prst="roundRect">
            <a:avLst>
              <a:gd name="adj" fmla="val 7300"/>
            </a:avLst>
          </a:prstGeom>
          <a:solidFill>
            <a:srgbClr val="FFFFFF"/>
          </a:solidFill>
          <a:ln w="15240">
            <a:solidFill>
              <a:srgbClr val="BCDB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47823" y="4568666"/>
            <a:ext cx="60960" cy="1002149"/>
          </a:xfrm>
          <a:prstGeom prst="roundRect">
            <a:avLst>
              <a:gd name="adj" fmla="val 101581"/>
            </a:avLst>
          </a:prstGeom>
          <a:solidFill>
            <a:srgbClr val="26A688"/>
          </a:solidFill>
          <a:ln/>
        </p:spPr>
      </p:sp>
      <p:sp>
        <p:nvSpPr>
          <p:cNvPr id="34" name="Text 32"/>
          <p:cNvSpPr/>
          <p:nvPr/>
        </p:nvSpPr>
        <p:spPr>
          <a:xfrm>
            <a:off x="7571423" y="4731306"/>
            <a:ext cx="2543294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Week 3–4: Integration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7571423" y="5019080"/>
            <a:ext cx="6102548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working prototype connecting sensors to cloud to mobile interface. Implement weather data integration and validate soil moisture data pipeline functionality.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93790" y="5666542"/>
            <a:ext cx="6473547" cy="1002149"/>
          </a:xfrm>
          <a:prstGeom prst="roundRect">
            <a:avLst>
              <a:gd name="adj" fmla="val 7300"/>
            </a:avLst>
          </a:prstGeom>
          <a:solidFill>
            <a:srgbClr val="FFFFFF"/>
          </a:solidFill>
          <a:ln w="15240">
            <a:solidFill>
              <a:srgbClr val="BCDB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8550" y="5666542"/>
            <a:ext cx="60960" cy="1002149"/>
          </a:xfrm>
          <a:prstGeom prst="roundRect">
            <a:avLst>
              <a:gd name="adj" fmla="val 101581"/>
            </a:avLst>
          </a:prstGeom>
          <a:solidFill>
            <a:srgbClr val="26A688"/>
          </a:solidFill>
          <a:ln/>
        </p:spPr>
      </p:sp>
      <p:sp>
        <p:nvSpPr>
          <p:cNvPr id="38" name="Text 36"/>
          <p:cNvSpPr/>
          <p:nvPr/>
        </p:nvSpPr>
        <p:spPr>
          <a:xfrm>
            <a:off x="1002149" y="5829181"/>
            <a:ext cx="2556034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Week 5–6: Intelligence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1002149" y="6116955"/>
            <a:ext cx="6102548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 machine learning models using crop and pest datasets. Deploy NLP module for natural language advisory generation and voice assistant capabilities.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363063" y="5666542"/>
            <a:ext cx="6473547" cy="1002149"/>
          </a:xfrm>
          <a:prstGeom prst="roundRect">
            <a:avLst>
              <a:gd name="adj" fmla="val 7300"/>
            </a:avLst>
          </a:prstGeom>
          <a:solidFill>
            <a:srgbClr val="FFFFFF"/>
          </a:solidFill>
          <a:ln w="15240">
            <a:solidFill>
              <a:srgbClr val="BCDBD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47823" y="5666542"/>
            <a:ext cx="60960" cy="1002149"/>
          </a:xfrm>
          <a:prstGeom prst="roundRect">
            <a:avLst>
              <a:gd name="adj" fmla="val 101581"/>
            </a:avLst>
          </a:prstGeom>
          <a:solidFill>
            <a:srgbClr val="26A688"/>
          </a:solidFill>
          <a:ln/>
        </p:spPr>
      </p:sp>
      <p:sp>
        <p:nvSpPr>
          <p:cNvPr id="42" name="Text 40"/>
          <p:cNvSpPr/>
          <p:nvPr/>
        </p:nvSpPr>
        <p:spPr>
          <a:xfrm>
            <a:off x="7571423" y="5829181"/>
            <a:ext cx="2393633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Week 7–8: Validation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7571423" y="6116955"/>
            <a:ext cx="6102548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Conduct field testing with simulated farm conditions. Benchmark accuracy metrics, refine user interface, and prepare comprehensive documentation for demonstration.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93790" y="6776442"/>
            <a:ext cx="13042821" cy="681514"/>
          </a:xfrm>
          <a:prstGeom prst="roundRect">
            <a:avLst>
              <a:gd name="adj" fmla="val 9086"/>
            </a:avLst>
          </a:prstGeom>
          <a:solidFill>
            <a:srgbClr val="C1F1E5"/>
          </a:solidFill>
          <a:ln/>
        </p:spPr>
      </p:sp>
      <p:pic>
        <p:nvPicPr>
          <p:cNvPr id="4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189" y="6983968"/>
            <a:ext cx="184190" cy="147399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1272778" y="6908959"/>
            <a:ext cx="12416433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 Management: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ML model accuracy may be limited with Indian agricultural datasets → </a:t>
            </a:r>
            <a:r>
              <a:rPr lang="en-US" sz="1150" b="1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Contingency: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Implement rule-based advisory fallback and curate domain-specific training data from ICAR/Agmarknet databases in parallel.</a:t>
            </a:r>
            <a:endParaRPr lang="en-US" sz="115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8B0A3AF-EC5E-0E07-D8A7-C1CA158C5A34}"/>
              </a:ext>
            </a:extLst>
          </p:cNvPr>
          <p:cNvSpPr/>
          <p:nvPr/>
        </p:nvSpPr>
        <p:spPr>
          <a:xfrm>
            <a:off x="12832702" y="7769290"/>
            <a:ext cx="1691951" cy="36290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AE250D5-87B9-0E99-1331-D87D59F15FD6}"/>
              </a:ext>
            </a:extLst>
          </p:cNvPr>
          <p:cNvSpPr/>
          <p:nvPr/>
        </p:nvSpPr>
        <p:spPr>
          <a:xfrm>
            <a:off x="0" y="7968343"/>
            <a:ext cx="14630400" cy="261257"/>
          </a:xfrm>
          <a:prstGeom prst="rect">
            <a:avLst/>
          </a:prstGeom>
          <a:solidFill>
            <a:srgbClr val="D6F5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7956FC1-7331-9ADC-CBF1-9A7D81A72D0D}"/>
              </a:ext>
            </a:extLst>
          </p:cNvPr>
          <p:cNvSpPr txBox="1"/>
          <p:nvPr/>
        </p:nvSpPr>
        <p:spPr>
          <a:xfrm>
            <a:off x="6695055" y="7942272"/>
            <a:ext cx="1339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Team ID: N25K01A0077  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8693"/>
            <a:ext cx="8967668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Impact, Innovation &amp; Why This Team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944767" y="2719030"/>
            <a:ext cx="1952863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3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35K+</a:t>
            </a:r>
            <a:endParaRPr lang="en-US" sz="3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454" y="1726763"/>
            <a:ext cx="2381607" cy="23816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86840" y="4259104"/>
            <a:ext cx="306883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Indian Farmers Targeted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4573786"/>
            <a:ext cx="4255056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First phase deployment across Kerala and Maharashtra regions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338649" y="2719030"/>
            <a:ext cx="1952863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3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₹4000</a:t>
            </a:r>
            <a:endParaRPr lang="en-US" sz="3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337" y="1726763"/>
            <a:ext cx="2381607" cy="238160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22814" y="4259104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Hardware Cost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5187672" y="4573786"/>
            <a:ext cx="4255056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Ultra-low cost setup making technology accessible to small farmers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0732532" y="2719030"/>
            <a:ext cx="1952863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3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85%+</a:t>
            </a:r>
            <a:endParaRPr lang="en-US" sz="3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8219" y="1726763"/>
            <a:ext cx="2381607" cy="238160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667048" y="4259104"/>
            <a:ext cx="208395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Target Accuracy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9581555" y="4573786"/>
            <a:ext cx="4255056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ML models trained on regional crop patterns and pest detection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793790" y="5241846"/>
            <a:ext cx="318968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Innovation Highlights</a:t>
            </a:r>
            <a:endParaRPr lang="en-US" sz="1850" dirty="0"/>
          </a:p>
        </p:txBody>
      </p:sp>
      <p:sp>
        <p:nvSpPr>
          <p:cNvPr id="16" name="Text 11"/>
          <p:cNvSpPr/>
          <p:nvPr/>
        </p:nvSpPr>
        <p:spPr>
          <a:xfrm>
            <a:off x="793790" y="5650587"/>
            <a:ext cx="6327815" cy="980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IoT sensors + AI advisory + marketplace in single platform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QR-based Digital Crop Passport for food transparency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Voice-enabled NLP interface for regional language support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Rule-based fallback ensures reliability with limited data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7516416" y="5241846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Scalability Path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7516416" y="5650587"/>
            <a:ext cx="6327815" cy="980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Modular design allows adding new sensors and crops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Cloud architecture supports 10,000+ concurrent users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Open-source stack enables community contributions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Partnership model with Krishi Vigyan Kendras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031915" y="6919793"/>
            <a:ext cx="1280469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Commitment:</a:t>
            </a: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 will demonstrate a live KisanMitra prototype in 60 days showing real soil sensor readings → AI-generated advisory → marketplace listing functionality.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793790" y="6794778"/>
            <a:ext cx="22860" cy="466011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C03E6A-334B-BC69-1B90-9FEEC443359B}"/>
              </a:ext>
            </a:extLst>
          </p:cNvPr>
          <p:cNvSpPr/>
          <p:nvPr/>
        </p:nvSpPr>
        <p:spPr>
          <a:xfrm>
            <a:off x="12832702" y="7769290"/>
            <a:ext cx="1691951" cy="36290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9098A9F-94ED-EB2C-32E5-31B6B405141D}"/>
              </a:ext>
            </a:extLst>
          </p:cNvPr>
          <p:cNvSpPr/>
          <p:nvPr/>
        </p:nvSpPr>
        <p:spPr>
          <a:xfrm>
            <a:off x="0" y="7968343"/>
            <a:ext cx="14630400" cy="261257"/>
          </a:xfrm>
          <a:prstGeom prst="rect">
            <a:avLst/>
          </a:prstGeom>
          <a:solidFill>
            <a:srgbClr val="D6F5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B0C8C8-6743-E2B8-E8AD-638ABCCD1820}"/>
              </a:ext>
            </a:extLst>
          </p:cNvPr>
          <p:cNvSpPr txBox="1"/>
          <p:nvPr/>
        </p:nvSpPr>
        <p:spPr>
          <a:xfrm>
            <a:off x="6605846" y="7934377"/>
            <a:ext cx="1339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Team ID: N25K01A0077  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848</Words>
  <Application>Microsoft Office PowerPoint</Application>
  <PresentationFormat>Custom</PresentationFormat>
  <Paragraphs>135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Unbounded Bold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Dhanesh Shetty</dc:creator>
  <cp:lastModifiedBy>lavin Pattnaik</cp:lastModifiedBy>
  <cp:revision>5</cp:revision>
  <dcterms:created xsi:type="dcterms:W3CDTF">2026-03-19T13:44:25Z</dcterms:created>
  <dcterms:modified xsi:type="dcterms:W3CDTF">2026-03-19T15:40:49Z</dcterms:modified>
</cp:coreProperties>
</file>